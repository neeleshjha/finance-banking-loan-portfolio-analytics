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3D5A99">
              <a:alpha val="20000"/>
            </a:srgbClr>
          </a:solidFill>
          <a:ln w="12700">
            <a:solidFill>
              <a:srgbClr val="3D5A9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548640"/>
            <a:ext cx="2926080" cy="2926080"/>
          </a:xfrm>
          <a:prstGeom prst="ellipse">
            <a:avLst/>
          </a:prstGeom>
          <a:solidFill>
            <a:srgbClr val="F9E795">
              <a:alpha val="15000"/>
            </a:srgbClr>
          </a:solidFill>
          <a:ln w="12700">
            <a:solidFill>
              <a:srgbClr val="F9E795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D5A99">
              <a:alpha val="50000"/>
            </a:srgbClr>
          </a:solidFill>
          <a:ln w="12700">
            <a:solidFill>
              <a:srgbClr val="3D5A99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 Report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Analyst Project  |  Finance Domain  |  2023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200400"/>
            <a:ext cx="1920240" cy="987552"/>
          </a:xfrm>
          <a:prstGeom prst="rect">
            <a:avLst/>
          </a:prstGeom>
          <a:solidFill>
            <a:srgbClr val="3D5A99">
              <a:alpha val="65000"/>
            </a:srgbClr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21868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11480" y="3712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9464" y="3200400"/>
            <a:ext cx="1920240" cy="987552"/>
          </a:xfrm>
          <a:prstGeom prst="rect">
            <a:avLst/>
          </a:prstGeom>
          <a:solidFill>
            <a:srgbClr val="3D5A99">
              <a:alpha val="65000"/>
            </a:srgbClr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9464" y="321868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$5.45B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569464" y="3712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27448" y="3200400"/>
            <a:ext cx="1920240" cy="987552"/>
          </a:xfrm>
          <a:prstGeom prst="rect">
            <a:avLst/>
          </a:prstGeom>
          <a:solidFill>
            <a:srgbClr val="3D5A99">
              <a:alpha val="65000"/>
            </a:srgbClr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27448" y="321868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727448" y="3712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85432" y="3200400"/>
            <a:ext cx="1920240" cy="987552"/>
          </a:xfrm>
          <a:prstGeom prst="rect">
            <a:avLst/>
          </a:prstGeom>
          <a:solidFill>
            <a:srgbClr val="3D5A99">
              <a:alpha val="65000"/>
            </a:srgbClr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85432" y="321868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3.79%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885432" y="3712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NIM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  ·  SQL  ·  Python  ·  Tableau  ·  PowerPoint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840480" cy="1874520"/>
          </a:xfrm>
          <a:prstGeom prst="rect">
            <a:avLst/>
          </a:prstGeom>
          <a:solidFill>
            <a:srgbClr val="F4F6FB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54864" cy="18745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56616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multi-bank financial group faces rising NPA ratios, inconsistent Net Interest Margins across regions, and limited visibility into loan portfolio risk concentration.
</a:t>
            </a:r>
            <a:pPr indent="0" marL="0">
              <a:buNone/>
            </a:pPr>
            <a:r>
              <a:rPr lang="en-US" sz="1000" b="1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analytical pipeline to identify high-risk loan clusters, maximise NII yield, and recommend region-specific risk mitigation strategies.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Toolkit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347472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170432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974336" y="1170432"/>
            <a:ext cx="3803904" cy="493776"/>
          </a:xfrm>
          <a:prstGeom prst="rect">
            <a:avLst/>
          </a:prstGeom>
          <a:solidFill>
            <a:srgbClr val="F4F6FB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70432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Data cleaning, pivot tables, VLOOKUP, scenario analysis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847088"/>
            <a:ext cx="347472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47088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974336" y="1847088"/>
            <a:ext cx="3803904" cy="493776"/>
          </a:xfrm>
          <a:prstGeom prst="rect">
            <a:avLst/>
          </a:prstGeom>
          <a:solidFill>
            <a:srgbClr val="F4F6FB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47088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14 queries, CTEs, window functions, JOINs, 2 views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523744"/>
            <a:ext cx="347472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523744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974336" y="2523744"/>
            <a:ext cx="3803904" cy="493776"/>
          </a:xfrm>
          <a:prstGeom prst="rect">
            <a:avLst/>
          </a:prstGeom>
          <a:solidFill>
            <a:srgbClr val="F4F6FB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523744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 EDA, matplotlib/seaborn charts, correlation analysis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200400"/>
            <a:ext cx="347472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200400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74336" y="3200400"/>
            <a:ext cx="3803904" cy="493776"/>
          </a:xfrm>
          <a:prstGeom prst="rect">
            <a:avLst/>
          </a:prstGeom>
          <a:solidFill>
            <a:srgbClr val="F4F6FB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200400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— 3 interactive dashboards, risk heatmaps, NIM scatter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877056"/>
            <a:ext cx="347472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877056"/>
            <a:ext cx="347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974336" y="3877056"/>
            <a:ext cx="3803904" cy="493776"/>
          </a:xfrm>
          <a:prstGeom prst="rect">
            <a:avLst/>
          </a:prstGeom>
          <a:solidFill>
            <a:srgbClr val="F4F6FB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877056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— Executive presentation with KPIs and recommendations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Raw Data  →  Excel Clean  →  SQL Queries  →  Python EDA  →  Tableau Dashboards  →  Insights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DATASET &amp; EXCEL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Bank Loan Portfolio Records (2023)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33856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 / Bank / 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loan ID, bank name, geographic 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Retail, SME, Corporate, Private Banking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Personal, Home, Auto, Business, Credit Card, Education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Risk_Grade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risk classification (A=safest, E=highest risk)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Loan_Amount / Interest_Rate_Pct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disbursed and interest charged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(300–850)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creditworthiness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Net_Interest_Income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generated from the loan (NII proxy)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Is_Default / Is_NPA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(0/1)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default flag and NPA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Collateral_Ratio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coverage ratio (0 = unsecured loan)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023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 Performed: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29768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De-duplication and date standardisation on Disbursement_Date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VLOOKUP: Map branch codes to bank/region from Branch_Performance sheet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Pivot Table: NPA count by Bank × Risk Grade; NIM by Region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Conditional formatting: Red if Default_Rate &gt; 10%, Green if Credit_Score &gt; 750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Excel Dashboard with slicers for Segment, Bank, and Loan Type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54864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0881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validation, invalid amounts, outlier detection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4864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Bank-level summary, monthly trend, loan type P&amp;L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54864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&amp; Risk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by segment/region, high-risk loan identification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843784"/>
            <a:ext cx="54864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437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Analysis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0906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Under/over-collateralised bucketing vs default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511296"/>
            <a:ext cx="54864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112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NIM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7581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 yield by segment, CASA vs attrition correlation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178808"/>
            <a:ext cx="54864" cy="5029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78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42569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LAG(), RANK(), NTILE(), CTEs, running NII totals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804672"/>
            <a:ext cx="5669280" cy="4187952"/>
          </a:xfrm>
          <a:prstGeom prst="rect">
            <a:avLst/>
          </a:prstGeom>
          <a:solidFill>
            <a:srgbClr val="111827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896112"/>
            <a:ext cx="5449824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NII Running Total + MoM Growth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Monthly_NII AS 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STRFTIME('%Y-%m',Disbursement_Date) AS Month,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ROUND(SUM(Net_Interest_Income)/1e6,1) AS NII_M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loan_transactions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Month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Month, NII_M,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SUM(NII_M) OVER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(ORDER BY Month) AS Cumulative_NII_M,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(NII_M - LAG(NII_M) OVER(ORDER BY Month))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LAG(NII_M) OVER(ORDER BY Month)*100, 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MoM_Growth_Pct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Monthly_NII;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Bank NPA Rank in each Region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Bank, Region, NPA_Rate,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(PARTITION BY Region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ORDER BY NPA_Rate ASC) AS Rank_In_Region,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NTILE(4) OVER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(ORDER BY NPA_Rate ASC) AS NPA_Quartile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BankRisk;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SQL Queries  ·  2 Analytical Views  ·  LAG() / RANK() / NTILE() / CTEs  ·  Cross-table JOINs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PYTHON EDA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50876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57400" y="804672"/>
            <a:ext cx="150876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80467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804672"/>
            <a:ext cx="150876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80467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804672"/>
            <a:ext cx="150876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80467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804672"/>
            <a:ext cx="150876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80467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225296"/>
            <a:ext cx="2743200" cy="1618488"/>
          </a:xfrm>
          <a:prstGeom prst="rect">
            <a:avLst/>
          </a:prstGeom>
          <a:solidFill>
            <a:srgbClr val="F4F6FB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225296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25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16276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Shape, dtypes, zero-null confirmation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9842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Describe() stats for Loan_Amount, Rates, Scores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3408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 detection via IQR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225296"/>
            <a:ext cx="2743200" cy="1618488"/>
          </a:xfrm>
          <a:prstGeom prst="rect">
            <a:avLst/>
          </a:prstGeom>
          <a:solidFill>
            <a:srgbClr val="F4F6FB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225296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225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 Trend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01568" y="16276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count + volume dual-axis 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01568" y="19842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spikes in Q1 &amp; Q4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3408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3-month rolling average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225296"/>
            <a:ext cx="2743200" cy="1618488"/>
          </a:xfrm>
          <a:prstGeom prst="rect">
            <a:avLst/>
          </a:prstGeom>
          <a:solidFill>
            <a:srgbClr val="F4F6FB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225296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225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16276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&amp; NPA rate by Risk Grade A–E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27648" y="198424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 score distribution histogram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7648" y="23408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vs Interest Rate scatter (r=−0.93)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026664"/>
            <a:ext cx="2743200" cy="1618488"/>
          </a:xfrm>
          <a:prstGeom prst="rect">
            <a:avLst/>
          </a:prstGeom>
          <a:solidFill>
            <a:srgbClr val="F4F6FB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026664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 type breakdown (pie)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37856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 volume bar chart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1422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mix stacked bar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3026664"/>
            <a:ext cx="2743200" cy="1618488"/>
          </a:xfrm>
          <a:prstGeom prst="rect">
            <a:avLst/>
          </a:prstGeom>
          <a:solidFill>
            <a:srgbClr val="F4F6FB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026664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0156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NII by loan type and segment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01568" y="37856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Collateral ratio vs default rate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01568" y="41422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NIM heatmap (bank × region)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3026664"/>
            <a:ext cx="2743200" cy="1618488"/>
          </a:xfrm>
          <a:prstGeom prst="rect">
            <a:avLst/>
          </a:prstGeom>
          <a:solidFill>
            <a:srgbClr val="F4F6FB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026664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Analysis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27648" y="34290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NIM vs NPA scatter (branch level)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27648" y="378561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CASA ratio vs attrition correlation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27648" y="414223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Staff-to-loan efficiency ratio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KEY ANALYTICAL FINDINGS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202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$5.45B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920240" cy="82296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Interest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192024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192024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75564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755648"/>
            <a:ext cx="54864" cy="148132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8470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Grade-E Default Rate = 19.7%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2157984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Grade-E borrowers default at 19.7% — 28× higher than Grade-A (0.7%). Concentration in SME Business Loans driving bulk of NPA value. Immediate tightening of Grade-D/E origination criteria recommended.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755648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755648"/>
            <a:ext cx="54864" cy="148132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8470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City Trust Bank — Highest NPA in West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2157984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Trust Bank's West region recorded the network's highest NPA ratio. Potential issue: aggressive loan growth without commensurate credit screening. Recommend audit of underwriting standards in that region.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83280"/>
            <a:ext cx="54864" cy="148132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Credit Score vs Rate: r = −0.93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3785616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perfect inverse correlation. Customers with scores below 620 are paying 16–22% rates yet defaulting at 14%+ — eroding net yield. Re-pricing or portfolio de-risking needed in 600–649 band.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383280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383280"/>
            <a:ext cx="54864" cy="148132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Private Banking Highest NPA at 4.7%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65192" y="3785616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highest average loan amounts ($2M+), Private Banking has the worst NPA rate by segment. Collateral ratios for this segment are adequate, suggesting cash-flow risk rather than asset quality. Covenant review required.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TABLEAU DASHBOARD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4187952"/>
          </a:xfrm>
          <a:prstGeom prst="rect">
            <a:avLst/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834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1: Executive Portfolio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89888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BAN KPIs: Portfolio, NII, Default Rate, Avg 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19456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194560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Disbursement Dual-Axis (Count + Volume)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999232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999232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2666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by Bank — Colored Stacked Bar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803904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803904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31336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Type Donut Chart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804672"/>
            <a:ext cx="2834640" cy="4187952"/>
          </a:xfrm>
          <a:prstGeom prst="rect">
            <a:avLst/>
          </a:prstGeom>
          <a:solidFill>
            <a:srgbClr val="F4F6FB"/>
          </a:solidFill>
          <a:ln w="12700">
            <a:solidFill>
              <a:srgbClr val="2C4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804672"/>
            <a:ext cx="2834640" cy="457200"/>
          </a:xfrm>
          <a:prstGeom prst="rect">
            <a:avLst/>
          </a:prstGeom>
          <a:solidFill>
            <a:srgbClr val="2C4B8A"/>
          </a:solidFill>
          <a:ln w="12700">
            <a:solidFill>
              <a:srgbClr val="2C4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2: Risk &amp; NPA Monitor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138988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55848" y="1389888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417320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Grade × Bank Heatmap (NPA %)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5848" y="219456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2194560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221992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by Segment Bar + Ref Line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2999232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2999232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02666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Histogram by Risk Grade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55848" y="3803904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3803904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831336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Trend Line with Forecast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804672"/>
            <a:ext cx="2834640" cy="4187952"/>
          </a:xfrm>
          <a:prstGeom prst="rect">
            <a:avLst/>
          </a:prstGeom>
          <a:solidFill>
            <a:srgbClr val="F4F6FB"/>
          </a:solidFill>
          <a:ln w="12700">
            <a:solidFill>
              <a:srgbClr val="1C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804672"/>
            <a:ext cx="2834640" cy="45720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3: Revenue &amp; Branches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27648" y="138988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7648" y="1389888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1417320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vs NPA Scatter (Branch Level)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27648" y="219456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2194560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2221992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 Heatmap (Loan Type × Segment)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27648" y="2999232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2999232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02666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Ratio vs Attrition Scatter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27648" y="3803904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648" y="3803904"/>
            <a:ext cx="54864" cy="65836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3831336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NPA Map (Size = Deposits)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Loan_Transactions + Branch_Performance  ·  Relationship: Bank + Region  ·  Filters: Date, Bank, Segment, Risk Grade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920240"/>
          </a:xfrm>
          <a:prstGeom prst="rect">
            <a:avLst/>
          </a:prstGeom>
          <a:solidFill>
            <a:srgbClr val="0D1E40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75488" cy="47548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30168" y="1005840"/>
            <a:ext cx="749808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00584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960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Grade-D/E Origination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new Grade-D/E loans at 5% of monthly origination volume. Implement mandatory credit committee approval for any loan above ₹10L in these grades. Target: reduce default rate from 5.6% → 3.0% in 6 months. Est. NPA savings: $42M.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60520" cy="1920240"/>
          </a:xfrm>
          <a:prstGeom prst="rect">
            <a:avLst/>
          </a:prstGeom>
          <a:solidFill>
            <a:srgbClr val="0D1E40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960120"/>
            <a:ext cx="475488" cy="47548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0728" y="1005840"/>
            <a:ext cx="749808" cy="23774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00584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32120" y="9601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City Trust Bank – West Region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44475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NPA ratio in the network. Commission a 60-day loan book review of all active accounts in this branch cluster. Reassess 200+ high-exposure accounts. Focus on Business Loans with collateral below 1.0x coverage.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4160520" cy="1920240"/>
          </a:xfrm>
          <a:prstGeom prst="rect">
            <a:avLst/>
          </a:prstGeom>
          <a:solidFill>
            <a:srgbClr val="0D1E40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44952"/>
            <a:ext cx="475488" cy="47548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30168" y="3090672"/>
            <a:ext cx="749808" cy="23774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30906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1560" y="30449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600–649 Credit Score Band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2958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pays 13–16% interest but defaults at 14% — near break-even NII yield. Either tighten intake criteria or introduce risk-linked rate floors. A 1.5pp rate adjustment could recover $18M in annual NII.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907792"/>
            <a:ext cx="4160520" cy="1920240"/>
          </a:xfrm>
          <a:prstGeom prst="rect">
            <a:avLst/>
          </a:prstGeom>
          <a:solidFill>
            <a:srgbClr val="0D1E40"/>
          </a:solidFill>
          <a:ln w="12700">
            <a:solidFill>
              <a:srgbClr val="3D5A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044952"/>
            <a:ext cx="475488" cy="475488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10728" y="3090672"/>
            <a:ext cx="749808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30906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32120" y="30449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CASA Ratio to 45%+ Network-Wide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529584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ratio and attrition are inversely correlated (r = −0.62). Branches with CASA &gt; 45% show 6pp lower attrition. Roll out salary account bundling + digital onboarding to lift CASA and reduce $3,200 avg customer acquisition cost.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5029200" cy="5029200"/>
          </a:xfrm>
          <a:prstGeom prst="ellipse">
            <a:avLst/>
          </a:prstGeom>
          <a:solidFill>
            <a:srgbClr val="3D5A99">
              <a:alpha val="20000"/>
            </a:srgbClr>
          </a:solidFill>
          <a:ln w="12700">
            <a:solidFill>
              <a:srgbClr val="3D5A9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9E795">
              <a:alpha val="14000"/>
            </a:srgbClr>
          </a:solidFill>
          <a:ln w="12700">
            <a:solidFill>
              <a:srgbClr val="F9E795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8580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1155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 Analytics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43000" y="2103120"/>
            <a:ext cx="1600200" cy="1572768"/>
          </a:xfrm>
          <a:prstGeom prst="rect">
            <a:avLst/>
          </a:prstGeom>
          <a:solidFill>
            <a:srgbClr val="3D5A99">
              <a:alpha val="45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762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6151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907792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sheets · Pivot tables · Conditional formatting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017520" y="2103120"/>
            <a:ext cx="1600200" cy="1572768"/>
          </a:xfrm>
          <a:prstGeom prst="rect">
            <a:avLst/>
          </a:prstGeom>
          <a:solidFill>
            <a:srgbClr val="3D5A99">
              <a:alpha val="45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1762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6151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907792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queries · CTEs · LAG / RANK / NTILE · 2 views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92040" y="2103120"/>
            <a:ext cx="1600200" cy="1572768"/>
          </a:xfrm>
          <a:prstGeom prst="rect">
            <a:avLst/>
          </a:prstGeom>
          <a:solidFill>
            <a:srgbClr val="3D5A99">
              <a:alpha val="45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762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26151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907792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7 charts · Risk &amp; Revenue deep-dive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766560" y="2103120"/>
            <a:ext cx="1600200" cy="1572768"/>
          </a:xfrm>
          <a:prstGeom prst="rect">
            <a:avLst/>
          </a:prstGeom>
          <a:solidFill>
            <a:srgbClr val="3D5A99">
              <a:alpha val="45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17627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26151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907792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dashboards · 12 charts · Risk + Revenue + NIM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Finance &amp; Banking Data Analytics  ·  Intermediate Level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315968"/>
            <a:ext cx="2743200" cy="4572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622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&amp; Banking Portfolio Analytics 2023</dc:title>
  <dc:subject>PptxGenJS Presentation</dc:subject>
  <dc:creator>Banking Analytics Team</dc:creator>
  <cp:lastModifiedBy>Banking Analytics Team</cp:lastModifiedBy>
  <cp:revision>1</cp:revision>
  <dcterms:created xsi:type="dcterms:W3CDTF">2026-03-13T17:49:42Z</dcterms:created>
  <dcterms:modified xsi:type="dcterms:W3CDTF">2026-03-13T17:49:42Z</dcterms:modified>
</cp:coreProperties>
</file>